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1" r:id="rId2"/>
    <p:sldId id="6563" r:id="rId3"/>
    <p:sldId id="6564" r:id="rId4"/>
    <p:sldId id="6604" r:id="rId5"/>
    <p:sldId id="6605" r:id="rId6"/>
    <p:sldId id="6606" r:id="rId7"/>
    <p:sldId id="6812" r:id="rId8"/>
    <p:sldId id="6813" r:id="rId9"/>
    <p:sldId id="6814" r:id="rId10"/>
    <p:sldId id="6815" r:id="rId11"/>
    <p:sldId id="6609" r:id="rId12"/>
    <p:sldId id="6611" r:id="rId13"/>
    <p:sldId id="6610" r:id="rId14"/>
    <p:sldId id="6612" r:id="rId15"/>
    <p:sldId id="6613" r:id="rId16"/>
    <p:sldId id="661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4EC2BA-4801-4F58-B698-857029826F94}">
          <p14:sldIdLst>
            <p14:sldId id="261"/>
            <p14:sldId id="6563"/>
            <p14:sldId id="6564"/>
            <p14:sldId id="6604"/>
            <p14:sldId id="6605"/>
            <p14:sldId id="6606"/>
            <p14:sldId id="6812"/>
            <p14:sldId id="6813"/>
            <p14:sldId id="6814"/>
            <p14:sldId id="6815"/>
            <p14:sldId id="6609"/>
            <p14:sldId id="6611"/>
            <p14:sldId id="6610"/>
            <p14:sldId id="6612"/>
            <p14:sldId id="6613"/>
            <p14:sldId id="661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, Wei-Lun" initials="CW" lastIdx="4" clrIdx="0">
    <p:extLst>
      <p:ext uri="{19B8F6BF-5375-455C-9EA6-DF929625EA0E}">
        <p15:presenceInfo xmlns:p15="http://schemas.microsoft.com/office/powerpoint/2012/main" userId="S-1-5-21-2978849671-3447107804-1146194034-2555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5" autoAdjust="0"/>
    <p:restoredTop sz="95481" autoAdjust="0"/>
  </p:normalViewPr>
  <p:slideViewPr>
    <p:cSldViewPr snapToGrid="0" snapToObjects="1">
      <p:cViewPr varScale="1">
        <p:scale>
          <a:sx n="67" d="100"/>
          <a:sy n="67" d="100"/>
        </p:scale>
        <p:origin x="54" y="543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9EA88-CDB8-5740-9EFC-694193B32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3A175-5696-B54B-8914-C072FC0DB2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8AC04-A67D-B24C-8E12-8FB56FC0567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78DE9-D626-CD46-9744-6BF9484F60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2EA5D-6244-A840-989B-3FF66F3C2C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0F412-BB42-714A-9F06-5752E0C7A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00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3F71F-EE20-0840-B448-C2CC2398DE4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8E0E4-2FF9-D642-903E-D1AE3C9B5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0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08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3F7F-A249-F443-B60E-AC4643D570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122363"/>
            <a:ext cx="11350171" cy="1250723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&lt;Topic&gt;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CFC8-047F-C941-8585-D09B9904EA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0172" y="5522231"/>
            <a:ext cx="3381828" cy="19022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D2412-531C-47CA-BAA6-B0177AE1C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9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2A7-066E-9046-8121-95F264DC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8D3-1287-3744-8FAF-4A40CD8A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B578A5-C01B-5746-8F37-A8507C26D5D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E24F2A-9AF9-4D2F-B130-85F6F5C0E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5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3303-7D4B-6B4F-B80C-1ED0C4CF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1681163"/>
            <a:ext cx="5702935" cy="45655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AFBE-D4EB-0E40-8B47-1079AF3A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505075"/>
            <a:ext cx="5702935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DBDC-D697-2741-A295-168C772A4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400" y="1681163"/>
            <a:ext cx="5762879" cy="456544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E66BE-92C4-FC4C-AC21-FE8A32C9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00" y="2505075"/>
            <a:ext cx="5762880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C15DA5-5933-2E4C-893D-A908BD3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F5A316-8BF4-6148-A76F-D966A9DBE32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FDD41-D99A-A14A-836E-655A91E30D8C}"/>
              </a:ext>
            </a:extLst>
          </p:cNvPr>
          <p:cNvCxnSpPr>
            <a:cxnSpLocks/>
          </p:cNvCxnSpPr>
          <p:nvPr userDrawn="1"/>
        </p:nvCxnSpPr>
        <p:spPr>
          <a:xfrm>
            <a:off x="6145428" y="1681163"/>
            <a:ext cx="0" cy="450850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03C1A-2431-1A4A-8332-630616C534BD}"/>
              </a:ext>
            </a:extLst>
          </p:cNvPr>
          <p:cNvCxnSpPr>
            <a:cxnSpLocks/>
          </p:cNvCxnSpPr>
          <p:nvPr userDrawn="1"/>
        </p:nvCxnSpPr>
        <p:spPr>
          <a:xfrm>
            <a:off x="234696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423DE-EE3D-144E-8305-FAD82E00DC73}"/>
              </a:ext>
            </a:extLst>
          </p:cNvPr>
          <p:cNvCxnSpPr>
            <a:cxnSpLocks/>
          </p:cNvCxnSpPr>
          <p:nvPr userDrawn="1"/>
        </p:nvCxnSpPr>
        <p:spPr>
          <a:xfrm>
            <a:off x="6256401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B81EB3-84B1-40B7-B5B3-C510BB122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84DFD9-2B07-AE4F-9A3C-2EEFC6F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2471FE-D852-2441-85E8-46B1B30A4C7F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F2685E-9D30-4DC1-B8A3-10EB2BA4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8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0DA5206-89D9-47A3-9F61-D86373E6C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32A6-A96D-DA45-A47A-D02A0A9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D3DD-323F-6F4A-9A75-123C3C9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3FDFF-5A01-4986-9381-278573393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1240696"/>
            <a:ext cx="12192000" cy="2188304"/>
          </a:xfrm>
        </p:spPr>
        <p:txBody>
          <a:bodyPr>
            <a:normAutofit fontScale="90000"/>
          </a:bodyPr>
          <a:lstStyle/>
          <a:p>
            <a:r>
              <a:rPr lang="en-US" dirty="0"/>
              <a:t>HW5: </a:t>
            </a:r>
            <a:br>
              <a:rPr lang="en-US" dirty="0"/>
            </a:br>
            <a:r>
              <a:rPr lang="en-US" dirty="0"/>
              <a:t>Representation Learning </a:t>
            </a:r>
            <a:br>
              <a:rPr lang="en-US" dirty="0"/>
            </a:br>
            <a:r>
              <a:rPr lang="en-US" dirty="0"/>
              <a:t>with Autoencoder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2"/>
            <a:ext cx="58674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9" tIns="45719" rIns="91439" bIns="45719">
            <a:spAutoFit/>
          </a:bodyPr>
          <a:lstStyle/>
          <a:p>
            <a:pPr>
              <a:spcBef>
                <a:spcPct val="50000"/>
              </a:spcBef>
            </a:pPr>
            <a:endParaRPr 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70BD54-C5B8-E9A9-0DA0-366D21142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243490-EAF7-49C2-8B66-E0B5250955B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20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11ED-B7DC-3381-AC11-0EDEAC1F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EDAC5-E438-5554-AD3A-CB199DD54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make sure you read slide decks 17</a:t>
            </a:r>
          </a:p>
          <a:p>
            <a:r>
              <a:rPr lang="en-US" dirty="0"/>
              <a:t>Please make sure you read chapter 30 of the textbook</a:t>
            </a:r>
          </a:p>
        </p:txBody>
      </p:sp>
    </p:spTree>
    <p:extLst>
      <p:ext uri="{BB962C8B-B14F-4D97-AF65-F5344CB8AC3E}">
        <p14:creationId xmlns:p14="http://schemas.microsoft.com/office/powerpoint/2010/main" val="363533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3968-BDAA-79FE-36A3-4AC92AF8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91C6F-2A4F-9046-27B5-251422773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of Autoencoder</a:t>
            </a:r>
          </a:p>
          <a:p>
            <a:r>
              <a:rPr lang="en-US" dirty="0"/>
              <a:t>Recap of Convolution </a:t>
            </a:r>
          </a:p>
          <a:p>
            <a:r>
              <a:rPr lang="en-US" dirty="0"/>
              <a:t>Homework description (programming part)</a:t>
            </a:r>
          </a:p>
          <a:p>
            <a:r>
              <a:rPr lang="en-US" dirty="0"/>
              <a:t>Homework description (written part)</a:t>
            </a:r>
          </a:p>
        </p:txBody>
      </p:sp>
    </p:spTree>
    <p:extLst>
      <p:ext uri="{BB962C8B-B14F-4D97-AF65-F5344CB8AC3E}">
        <p14:creationId xmlns:p14="http://schemas.microsoft.com/office/powerpoint/2010/main" val="329810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050A-5201-F69E-03A3-AD91444A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Autoencoder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4CED9-4FAC-3A63-00E6-2731A7B4C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" y="1587616"/>
            <a:ext cx="10789920" cy="28816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37F14-0090-FFF2-9D2C-594C92426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0" y="5015865"/>
            <a:ext cx="5105400" cy="895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58C88D-3189-30A6-F35A-8EC7B8958C79}"/>
              </a:ext>
            </a:extLst>
          </p:cNvPr>
          <p:cNvSpPr txBox="1"/>
          <p:nvPr/>
        </p:nvSpPr>
        <p:spPr>
          <a:xfrm>
            <a:off x="967740" y="5135880"/>
            <a:ext cx="8465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Objective function:</a:t>
            </a:r>
          </a:p>
          <a:p>
            <a:endParaRPr lang="en-US" sz="2400" b="1" dirty="0"/>
          </a:p>
          <a:p>
            <a:r>
              <a:rPr lang="en-US" sz="2400" b="1" dirty="0"/>
              <a:t>Design principle:                  z </a:t>
            </a:r>
            <a:r>
              <a:rPr lang="en-US" sz="2400" dirty="0"/>
              <a:t>with lower dimensionality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DEEE3-14C1-BE10-1EDE-7BD13FCDBED2}"/>
              </a:ext>
            </a:extLst>
          </p:cNvPr>
          <p:cNvSpPr txBox="1"/>
          <p:nvPr/>
        </p:nvSpPr>
        <p:spPr>
          <a:xfrm>
            <a:off x="1" y="6482229"/>
            <a:ext cx="8596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</a:t>
            </a:r>
            <a:r>
              <a:rPr lang="en-US" dirty="0"/>
              <a:t>Figure c</a:t>
            </a:r>
            <a:r>
              <a:rPr lang="en-US" sz="1800" dirty="0"/>
              <a:t>redit: A. Torralba, P. Isola, and W. T. Freeman, Foundations of Computer Vision.]</a:t>
            </a:r>
          </a:p>
        </p:txBody>
      </p:sp>
    </p:spTree>
    <p:extLst>
      <p:ext uri="{BB962C8B-B14F-4D97-AF65-F5344CB8AC3E}">
        <p14:creationId xmlns:p14="http://schemas.microsoft.com/office/powerpoint/2010/main" val="313693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8A1F-805D-576F-DBCD-E3815DB5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Autoencoder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F74F2-FE46-6345-0067-2741C4344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131" y="2043978"/>
            <a:ext cx="8124825" cy="3781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F5261-4CC4-5618-2AFB-B77EAE9DEFDA}"/>
              </a:ext>
            </a:extLst>
          </p:cNvPr>
          <p:cNvSpPr txBox="1"/>
          <p:nvPr/>
        </p:nvSpPr>
        <p:spPr>
          <a:xfrm>
            <a:off x="1" y="6482229"/>
            <a:ext cx="8596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</a:t>
            </a:r>
            <a:r>
              <a:rPr lang="en-US" dirty="0"/>
              <a:t>Figure c</a:t>
            </a:r>
            <a:r>
              <a:rPr lang="en-US" sz="1800" dirty="0"/>
              <a:t>redit: A. Torralba, P. Isola, and W. T. Freeman, Foundations of Computer Vision.]</a:t>
            </a:r>
          </a:p>
        </p:txBody>
      </p:sp>
    </p:spTree>
    <p:extLst>
      <p:ext uri="{BB962C8B-B14F-4D97-AF65-F5344CB8AC3E}">
        <p14:creationId xmlns:p14="http://schemas.microsoft.com/office/powerpoint/2010/main" val="231794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EC83-C3EB-0A3A-6FFD-FC328730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C8CC8-2908-462D-1FCE-44AD60AA1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97" y="1538287"/>
            <a:ext cx="2223924" cy="2266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909187-9F0E-CF7B-8FB5-D4F9CB81B888}"/>
              </a:ext>
            </a:extLst>
          </p:cNvPr>
          <p:cNvSpPr txBox="1"/>
          <p:nvPr/>
        </p:nvSpPr>
        <p:spPr>
          <a:xfrm>
            <a:off x="849104" y="2429102"/>
            <a:ext cx="206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Training data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3B96C7B-82AF-F03A-67A9-8774DFEC101B}"/>
              </a:ext>
            </a:extLst>
          </p:cNvPr>
          <p:cNvSpPr/>
          <p:nvPr/>
        </p:nvSpPr>
        <p:spPr>
          <a:xfrm>
            <a:off x="5749637" y="2484293"/>
            <a:ext cx="1046018" cy="374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BDF21A-8C11-94B1-19E9-1E9750B50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920" y="1538287"/>
            <a:ext cx="2531859" cy="226608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9E2D24B-9363-179A-8E7A-3B79A49B24CA}"/>
              </a:ext>
            </a:extLst>
          </p:cNvPr>
          <p:cNvGrpSpPr/>
          <p:nvPr/>
        </p:nvGrpSpPr>
        <p:grpSpPr>
          <a:xfrm>
            <a:off x="849104" y="3847846"/>
            <a:ext cx="8599696" cy="2657613"/>
            <a:chOff x="849104" y="4015720"/>
            <a:chExt cx="8599696" cy="265761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71DF7E-991C-C84E-2672-3EC223CFF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3200" y="4015720"/>
              <a:ext cx="6705600" cy="265761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7DA295-FA77-721C-B32C-EABC395AAB22}"/>
                </a:ext>
              </a:extLst>
            </p:cNvPr>
            <p:cNvSpPr txBox="1"/>
            <p:nvPr/>
          </p:nvSpPr>
          <p:spPr>
            <a:xfrm>
              <a:off x="849104" y="5021361"/>
              <a:ext cx="20643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Nearest neighbor search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6944EDD-29B0-F2A1-DF5B-B028DE89389C}"/>
              </a:ext>
            </a:extLst>
          </p:cNvPr>
          <p:cNvSpPr txBox="1"/>
          <p:nvPr/>
        </p:nvSpPr>
        <p:spPr>
          <a:xfrm>
            <a:off x="1" y="6482229"/>
            <a:ext cx="8596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</a:t>
            </a:r>
            <a:r>
              <a:rPr lang="en-US" dirty="0"/>
              <a:t>Figure c</a:t>
            </a:r>
            <a:r>
              <a:rPr lang="en-US" sz="1800" dirty="0"/>
              <a:t>redit: A. Torralba, P. Isola, and W. T. Freeman, Foundations of Computer Vision.]</a:t>
            </a:r>
          </a:p>
        </p:txBody>
      </p:sp>
    </p:spTree>
    <p:extLst>
      <p:ext uri="{BB962C8B-B14F-4D97-AF65-F5344CB8AC3E}">
        <p14:creationId xmlns:p14="http://schemas.microsoft.com/office/powerpoint/2010/main" val="160442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3154-9007-421D-81E3-B70C3F0A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66C29AE-A5C5-407B-978D-F64AB971B538}"/>
              </a:ext>
            </a:extLst>
          </p:cNvPr>
          <p:cNvGraphicFramePr>
            <a:graphicFrameLocks noGrp="1"/>
          </p:cNvGraphicFramePr>
          <p:nvPr/>
        </p:nvGraphicFramePr>
        <p:xfrm>
          <a:off x="853283" y="3281363"/>
          <a:ext cx="321151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302">
                  <a:extLst>
                    <a:ext uri="{9D8B030D-6E8A-4147-A177-3AD203B41FA5}">
                      <a16:colId xmlns:a16="http://schemas.microsoft.com/office/drawing/2014/main" val="1241483227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082043343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04076648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115218744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917730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90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7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4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0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8635"/>
                  </a:ext>
                </a:extLst>
              </a:tr>
            </a:tbl>
          </a:graphicData>
        </a:graphic>
      </p:graphicFrame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AF93D49C-B5BF-4A48-963B-4E0EDB6347BA}"/>
              </a:ext>
            </a:extLst>
          </p:cNvPr>
          <p:cNvGraphicFramePr>
            <a:graphicFrameLocks noGrp="1"/>
          </p:cNvGraphicFramePr>
          <p:nvPr/>
        </p:nvGraphicFramePr>
        <p:xfrm>
          <a:off x="7977983" y="3281363"/>
          <a:ext cx="321151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302">
                  <a:extLst>
                    <a:ext uri="{9D8B030D-6E8A-4147-A177-3AD203B41FA5}">
                      <a16:colId xmlns:a16="http://schemas.microsoft.com/office/drawing/2014/main" val="1241483227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082043343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04076648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115218744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917730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90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7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4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0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8635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17EB150-3D7E-45E8-A196-00EE08111C59}"/>
              </a:ext>
            </a:extLst>
          </p:cNvPr>
          <p:cNvGraphicFramePr>
            <a:graphicFrameLocks noGrp="1"/>
          </p:cNvGraphicFramePr>
          <p:nvPr/>
        </p:nvGraphicFramePr>
        <p:xfrm>
          <a:off x="4975227" y="1682989"/>
          <a:ext cx="1925637" cy="17406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1879">
                  <a:extLst>
                    <a:ext uri="{9D8B030D-6E8A-4147-A177-3AD203B41FA5}">
                      <a16:colId xmlns:a16="http://schemas.microsoft.com/office/drawing/2014/main" val="1247577786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2674614244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1024841865"/>
                    </a:ext>
                  </a:extLst>
                </a:gridCol>
              </a:tblGrid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08145"/>
                  </a:ext>
                </a:extLst>
              </a:tr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585682"/>
                  </a:ext>
                </a:extLst>
              </a:tr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1297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1958F6-10AF-4D59-B0A7-5B277A6725C4}"/>
              </a:ext>
            </a:extLst>
          </p:cNvPr>
          <p:cNvSpPr txBox="1"/>
          <p:nvPr/>
        </p:nvSpPr>
        <p:spPr>
          <a:xfrm>
            <a:off x="555081" y="6292750"/>
            <a:ext cx="4455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Feature map (nodes) at layer </a:t>
            </a:r>
            <a:r>
              <a:rPr lang="en-US" sz="2400" i="1" dirty="0"/>
              <a:t>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6112B5-2015-4A82-A55B-CA3E3D655425}"/>
              </a:ext>
            </a:extLst>
          </p:cNvPr>
          <p:cNvSpPr txBox="1"/>
          <p:nvPr/>
        </p:nvSpPr>
        <p:spPr>
          <a:xfrm>
            <a:off x="7977983" y="6314660"/>
            <a:ext cx="32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Feature map at layer </a:t>
            </a:r>
            <a:r>
              <a:rPr lang="en-US" sz="2400" i="1" dirty="0"/>
              <a:t>t</a:t>
            </a:r>
            <a:r>
              <a:rPr lang="en-US" sz="2400" dirty="0"/>
              <a:t>+1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C9A66E-3697-4510-9708-7B2CE6B09BD6}"/>
              </a:ext>
            </a:extLst>
          </p:cNvPr>
          <p:cNvSpPr txBox="1"/>
          <p:nvPr/>
        </p:nvSpPr>
        <p:spPr>
          <a:xfrm>
            <a:off x="4855196" y="3601338"/>
            <a:ext cx="2332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“Filter” weights</a:t>
            </a:r>
          </a:p>
          <a:p>
            <a:pPr algn="ctr"/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3-by-3</a:t>
            </a:r>
            <a:r>
              <a:rPr lang="en-US" sz="2400" dirty="0"/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B0068D-95C9-433F-9504-02CC20384B6A}"/>
              </a:ext>
            </a:extLst>
          </p:cNvPr>
          <p:cNvSpPr/>
          <p:nvPr/>
        </p:nvSpPr>
        <p:spPr>
          <a:xfrm>
            <a:off x="8647043" y="3889513"/>
            <a:ext cx="596347" cy="51683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388558-ACB9-4891-85FD-8A5DF50511F1}"/>
              </a:ext>
            </a:extLst>
          </p:cNvPr>
          <p:cNvSpPr/>
          <p:nvPr/>
        </p:nvSpPr>
        <p:spPr>
          <a:xfrm>
            <a:off x="873162" y="3310456"/>
            <a:ext cx="1909795" cy="16749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753031A-B72F-4486-A5AD-B8DA37E31FE1}"/>
              </a:ext>
            </a:extLst>
          </p:cNvPr>
          <p:cNvGrpSpPr/>
          <p:nvPr/>
        </p:nvGrpSpPr>
        <p:grpSpPr>
          <a:xfrm>
            <a:off x="30441" y="1674306"/>
            <a:ext cx="4944786" cy="3347751"/>
            <a:chOff x="30441" y="1674306"/>
            <a:chExt cx="4944786" cy="334775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263DEA-EBF1-401C-A969-854431F81CB0}"/>
                </a:ext>
              </a:extLst>
            </p:cNvPr>
            <p:cNvCxnSpPr/>
            <p:nvPr/>
          </p:nvCxnSpPr>
          <p:spPr>
            <a:xfrm flipV="1">
              <a:off x="921026" y="1682989"/>
              <a:ext cx="4054201" cy="154391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8194F47-9800-4B00-89B5-124293925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4282" y="3423682"/>
              <a:ext cx="920945" cy="159837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6696C0-816D-4880-B52D-36CF80BE600F}"/>
                </a:ext>
              </a:extLst>
            </p:cNvPr>
            <p:cNvSpPr txBox="1"/>
            <p:nvPr/>
          </p:nvSpPr>
          <p:spPr>
            <a:xfrm>
              <a:off x="30441" y="1674306"/>
              <a:ext cx="49447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Inner product</a:t>
              </a:r>
            </a:p>
            <a:p>
              <a:pPr algn="ctr"/>
              <a:r>
                <a:rPr lang="en-US" sz="2400" dirty="0"/>
                <a:t>Element-wise multiplication and sum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B0997A-4E61-4D94-A94A-AB95D13BB306}"/>
              </a:ext>
            </a:extLst>
          </p:cNvPr>
          <p:cNvGrpSpPr/>
          <p:nvPr/>
        </p:nvGrpSpPr>
        <p:grpSpPr>
          <a:xfrm>
            <a:off x="6900864" y="1674306"/>
            <a:ext cx="2342526" cy="2758029"/>
            <a:chOff x="6900864" y="1674306"/>
            <a:chExt cx="2342526" cy="275802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784CA76-6FD5-4178-9FF1-8BC9440E562D}"/>
                </a:ext>
              </a:extLst>
            </p:cNvPr>
            <p:cNvCxnSpPr>
              <a:cxnSpLocks/>
            </p:cNvCxnSpPr>
            <p:nvPr/>
          </p:nvCxnSpPr>
          <p:spPr>
            <a:xfrm>
              <a:off x="6900864" y="1674306"/>
              <a:ext cx="2342526" cy="221520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470FB5F-65F5-419A-AA22-26E704BBCF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0864" y="3432366"/>
              <a:ext cx="1746179" cy="99996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2542312-8911-4451-A93D-C689AC18FA97}"/>
                </a:ext>
              </a:extLst>
            </p:cNvPr>
            <p:cNvSpPr/>
            <p:nvPr/>
          </p:nvSpPr>
          <p:spPr>
            <a:xfrm>
              <a:off x="8647043" y="3863527"/>
              <a:ext cx="596347" cy="5168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D5C9BFFF-B4EE-4822-8C64-CD383DDA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1760" y="6492875"/>
            <a:ext cx="65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4BE195-460F-4FD6-B5F9-888181737AA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3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3154-9007-421D-81E3-B70C3F0A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66C29AE-A5C5-407B-978D-F64AB971B538}"/>
              </a:ext>
            </a:extLst>
          </p:cNvPr>
          <p:cNvGraphicFramePr>
            <a:graphicFrameLocks noGrp="1"/>
          </p:cNvGraphicFramePr>
          <p:nvPr/>
        </p:nvGraphicFramePr>
        <p:xfrm>
          <a:off x="853283" y="3281363"/>
          <a:ext cx="321151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302">
                  <a:extLst>
                    <a:ext uri="{9D8B030D-6E8A-4147-A177-3AD203B41FA5}">
                      <a16:colId xmlns:a16="http://schemas.microsoft.com/office/drawing/2014/main" val="1241483227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082043343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04076648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115218744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917730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90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7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4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0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8635"/>
                  </a:ext>
                </a:extLst>
              </a:tr>
            </a:tbl>
          </a:graphicData>
        </a:graphic>
      </p:graphicFrame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AF93D49C-B5BF-4A48-963B-4E0EDB6347BA}"/>
              </a:ext>
            </a:extLst>
          </p:cNvPr>
          <p:cNvGraphicFramePr>
            <a:graphicFrameLocks noGrp="1"/>
          </p:cNvGraphicFramePr>
          <p:nvPr/>
        </p:nvGraphicFramePr>
        <p:xfrm>
          <a:off x="7977983" y="3281363"/>
          <a:ext cx="321151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302">
                  <a:extLst>
                    <a:ext uri="{9D8B030D-6E8A-4147-A177-3AD203B41FA5}">
                      <a16:colId xmlns:a16="http://schemas.microsoft.com/office/drawing/2014/main" val="1241483227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082043343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04076648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115218744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917730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90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7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4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0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8635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17EB150-3D7E-45E8-A196-00EE08111C59}"/>
              </a:ext>
            </a:extLst>
          </p:cNvPr>
          <p:cNvGraphicFramePr>
            <a:graphicFrameLocks noGrp="1"/>
          </p:cNvGraphicFramePr>
          <p:nvPr/>
        </p:nvGraphicFramePr>
        <p:xfrm>
          <a:off x="4975227" y="1682989"/>
          <a:ext cx="1925637" cy="17406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1879">
                  <a:extLst>
                    <a:ext uri="{9D8B030D-6E8A-4147-A177-3AD203B41FA5}">
                      <a16:colId xmlns:a16="http://schemas.microsoft.com/office/drawing/2014/main" val="1247577786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2674614244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1024841865"/>
                    </a:ext>
                  </a:extLst>
                </a:gridCol>
              </a:tblGrid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08145"/>
                  </a:ext>
                </a:extLst>
              </a:tr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585682"/>
                  </a:ext>
                </a:extLst>
              </a:tr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1297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FC9A66E-3697-4510-9708-7B2CE6B09BD6}"/>
              </a:ext>
            </a:extLst>
          </p:cNvPr>
          <p:cNvSpPr txBox="1"/>
          <p:nvPr/>
        </p:nvSpPr>
        <p:spPr>
          <a:xfrm>
            <a:off x="4855196" y="3601338"/>
            <a:ext cx="2332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“Filter” weights</a:t>
            </a:r>
          </a:p>
          <a:p>
            <a:pPr algn="ctr"/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3-by-3</a:t>
            </a:r>
            <a:r>
              <a:rPr lang="en-US" sz="2400" dirty="0"/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B0068D-95C9-433F-9504-02CC20384B6A}"/>
              </a:ext>
            </a:extLst>
          </p:cNvPr>
          <p:cNvSpPr/>
          <p:nvPr/>
        </p:nvSpPr>
        <p:spPr>
          <a:xfrm>
            <a:off x="9932918" y="5050633"/>
            <a:ext cx="596347" cy="51683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388558-ACB9-4891-85FD-8A5DF50511F1}"/>
              </a:ext>
            </a:extLst>
          </p:cNvPr>
          <p:cNvSpPr/>
          <p:nvPr/>
        </p:nvSpPr>
        <p:spPr>
          <a:xfrm>
            <a:off x="2128645" y="4457288"/>
            <a:ext cx="1909795" cy="16749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86D887C-17B7-499F-83AA-ABAE62B3EA55}"/>
              </a:ext>
            </a:extLst>
          </p:cNvPr>
          <p:cNvGrpSpPr/>
          <p:nvPr/>
        </p:nvGrpSpPr>
        <p:grpSpPr>
          <a:xfrm>
            <a:off x="2128645" y="1682990"/>
            <a:ext cx="2846582" cy="4493973"/>
            <a:chOff x="2128645" y="1682990"/>
            <a:chExt cx="2846582" cy="449397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263DEA-EBF1-401C-A969-854431F81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8645" y="1682990"/>
              <a:ext cx="2846582" cy="274934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8194F47-9800-4B00-89B5-124293925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4793" y="3423683"/>
              <a:ext cx="910434" cy="275328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56696C0-816D-4880-B52D-36CF80BE600F}"/>
              </a:ext>
            </a:extLst>
          </p:cNvPr>
          <p:cNvSpPr txBox="1"/>
          <p:nvPr/>
        </p:nvSpPr>
        <p:spPr>
          <a:xfrm>
            <a:off x="30441" y="1674306"/>
            <a:ext cx="49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Inner product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B0997A-4E61-4D94-A94A-AB95D13BB306}"/>
              </a:ext>
            </a:extLst>
          </p:cNvPr>
          <p:cNvGrpSpPr/>
          <p:nvPr/>
        </p:nvGrpSpPr>
        <p:grpSpPr>
          <a:xfrm>
            <a:off x="6900864" y="1674306"/>
            <a:ext cx="3660341" cy="3893163"/>
            <a:chOff x="6900864" y="1674306"/>
            <a:chExt cx="3660341" cy="3893163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784CA76-6FD5-4178-9FF1-8BC9440E562D}"/>
                </a:ext>
              </a:extLst>
            </p:cNvPr>
            <p:cNvCxnSpPr>
              <a:cxnSpLocks/>
            </p:cNvCxnSpPr>
            <p:nvPr/>
          </p:nvCxnSpPr>
          <p:spPr>
            <a:xfrm>
              <a:off x="6900864" y="1674306"/>
              <a:ext cx="3628401" cy="328822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470FB5F-65F5-419A-AA22-26E704BBCF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0865" y="3432367"/>
              <a:ext cx="3032053" cy="2135102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2542312-8911-4451-A93D-C689AC18FA97}"/>
                </a:ext>
              </a:extLst>
            </p:cNvPr>
            <p:cNvSpPr/>
            <p:nvPr/>
          </p:nvSpPr>
          <p:spPr>
            <a:xfrm>
              <a:off x="9964858" y="5050633"/>
              <a:ext cx="596347" cy="5168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EA7890D-4D20-45C3-94C7-116C1002A15B}"/>
              </a:ext>
            </a:extLst>
          </p:cNvPr>
          <p:cNvSpPr txBox="1"/>
          <p:nvPr/>
        </p:nvSpPr>
        <p:spPr>
          <a:xfrm>
            <a:off x="555081" y="6292750"/>
            <a:ext cx="4455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Feature map (nodes) at layer </a:t>
            </a:r>
            <a:r>
              <a:rPr lang="en-US" sz="2400" i="1" dirty="0"/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E4F3FA-0C7C-4CDA-9266-ED17B3886089}"/>
              </a:ext>
            </a:extLst>
          </p:cNvPr>
          <p:cNvSpPr txBox="1"/>
          <p:nvPr/>
        </p:nvSpPr>
        <p:spPr>
          <a:xfrm>
            <a:off x="7977983" y="6314660"/>
            <a:ext cx="32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Feature map at layer </a:t>
            </a:r>
            <a:r>
              <a:rPr lang="en-US" sz="2400" i="1" dirty="0"/>
              <a:t>t</a:t>
            </a:r>
            <a:r>
              <a:rPr lang="en-US" sz="2400" dirty="0"/>
              <a:t>+1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61BE7DB0-0EDB-4907-ADFB-CEA9460E6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1760" y="6492875"/>
            <a:ext cx="65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4BE195-460F-4FD6-B5F9-888181737AA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27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3154-9007-421D-81E3-B70C3F0A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66C29AE-A5C5-407B-978D-F64AB971B538}"/>
              </a:ext>
            </a:extLst>
          </p:cNvPr>
          <p:cNvGraphicFramePr>
            <a:graphicFrameLocks noGrp="1"/>
          </p:cNvGraphicFramePr>
          <p:nvPr/>
        </p:nvGraphicFramePr>
        <p:xfrm>
          <a:off x="853283" y="3281363"/>
          <a:ext cx="321151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302">
                  <a:extLst>
                    <a:ext uri="{9D8B030D-6E8A-4147-A177-3AD203B41FA5}">
                      <a16:colId xmlns:a16="http://schemas.microsoft.com/office/drawing/2014/main" val="1241483227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082043343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04076648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115218744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917730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90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7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4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0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8635"/>
                  </a:ext>
                </a:extLst>
              </a:tr>
            </a:tbl>
          </a:graphicData>
        </a:graphic>
      </p:graphicFrame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AF93D49C-B5BF-4A48-963B-4E0EDB6347BA}"/>
              </a:ext>
            </a:extLst>
          </p:cNvPr>
          <p:cNvGraphicFramePr>
            <a:graphicFrameLocks noGrp="1"/>
          </p:cNvGraphicFramePr>
          <p:nvPr/>
        </p:nvGraphicFramePr>
        <p:xfrm>
          <a:off x="7977983" y="3281363"/>
          <a:ext cx="3211510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302">
                  <a:extLst>
                    <a:ext uri="{9D8B030D-6E8A-4147-A177-3AD203B41FA5}">
                      <a16:colId xmlns:a16="http://schemas.microsoft.com/office/drawing/2014/main" val="1241483227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2082043343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4040766482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1115218744"/>
                    </a:ext>
                  </a:extLst>
                </a:gridCol>
                <a:gridCol w="642302">
                  <a:extLst>
                    <a:ext uri="{9D8B030D-6E8A-4147-A177-3AD203B41FA5}">
                      <a16:colId xmlns:a16="http://schemas.microsoft.com/office/drawing/2014/main" val="3917730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90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7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04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0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8635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17EB150-3D7E-45E8-A196-00EE08111C59}"/>
              </a:ext>
            </a:extLst>
          </p:cNvPr>
          <p:cNvGraphicFramePr>
            <a:graphicFrameLocks noGrp="1"/>
          </p:cNvGraphicFramePr>
          <p:nvPr/>
        </p:nvGraphicFramePr>
        <p:xfrm>
          <a:off x="4975227" y="1682989"/>
          <a:ext cx="1925637" cy="17406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1879">
                  <a:extLst>
                    <a:ext uri="{9D8B030D-6E8A-4147-A177-3AD203B41FA5}">
                      <a16:colId xmlns:a16="http://schemas.microsoft.com/office/drawing/2014/main" val="1247577786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2674614244"/>
                    </a:ext>
                  </a:extLst>
                </a:gridCol>
                <a:gridCol w="641879">
                  <a:extLst>
                    <a:ext uri="{9D8B030D-6E8A-4147-A177-3AD203B41FA5}">
                      <a16:colId xmlns:a16="http://schemas.microsoft.com/office/drawing/2014/main" val="1024841865"/>
                    </a:ext>
                  </a:extLst>
                </a:gridCol>
              </a:tblGrid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08145"/>
                  </a:ext>
                </a:extLst>
              </a:tr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585682"/>
                  </a:ext>
                </a:extLst>
              </a:tr>
              <a:tr h="58023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1297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FC9A66E-3697-4510-9708-7B2CE6B09BD6}"/>
              </a:ext>
            </a:extLst>
          </p:cNvPr>
          <p:cNvSpPr txBox="1"/>
          <p:nvPr/>
        </p:nvSpPr>
        <p:spPr>
          <a:xfrm>
            <a:off x="4855196" y="3601338"/>
            <a:ext cx="2332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“Filter” weights</a:t>
            </a:r>
          </a:p>
          <a:p>
            <a:pPr algn="ctr"/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3-by-3</a:t>
            </a:r>
            <a:r>
              <a:rPr lang="en-US" sz="2400" dirty="0"/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B0068D-95C9-433F-9504-02CC20384B6A}"/>
              </a:ext>
            </a:extLst>
          </p:cNvPr>
          <p:cNvSpPr/>
          <p:nvPr/>
        </p:nvSpPr>
        <p:spPr>
          <a:xfrm>
            <a:off x="10561205" y="5615401"/>
            <a:ext cx="596347" cy="51683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388558-ACB9-4891-85FD-8A5DF50511F1}"/>
              </a:ext>
            </a:extLst>
          </p:cNvPr>
          <p:cNvSpPr/>
          <p:nvPr/>
        </p:nvSpPr>
        <p:spPr>
          <a:xfrm>
            <a:off x="2808218" y="5036344"/>
            <a:ext cx="1909795" cy="16749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86D887C-17B7-499F-83AA-ABAE62B3EA55}"/>
              </a:ext>
            </a:extLst>
          </p:cNvPr>
          <p:cNvGrpSpPr/>
          <p:nvPr/>
        </p:nvGrpSpPr>
        <p:grpSpPr>
          <a:xfrm>
            <a:off x="2808218" y="1682991"/>
            <a:ext cx="2167009" cy="3353353"/>
            <a:chOff x="2808218" y="1682991"/>
            <a:chExt cx="2167009" cy="335335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263DEA-EBF1-401C-A969-854431F81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8218" y="1682991"/>
              <a:ext cx="2167009" cy="327953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8194F47-9800-4B00-89B5-124293925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013" y="3423683"/>
              <a:ext cx="257214" cy="161266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56696C0-816D-4880-B52D-36CF80BE600F}"/>
              </a:ext>
            </a:extLst>
          </p:cNvPr>
          <p:cNvSpPr txBox="1"/>
          <p:nvPr/>
        </p:nvSpPr>
        <p:spPr>
          <a:xfrm>
            <a:off x="30441" y="1674306"/>
            <a:ext cx="49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Inner product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B0997A-4E61-4D94-A94A-AB95D13BB306}"/>
              </a:ext>
            </a:extLst>
          </p:cNvPr>
          <p:cNvGrpSpPr/>
          <p:nvPr/>
        </p:nvGrpSpPr>
        <p:grpSpPr>
          <a:xfrm>
            <a:off x="6900864" y="1674306"/>
            <a:ext cx="4288629" cy="4502657"/>
            <a:chOff x="6900864" y="1674306"/>
            <a:chExt cx="4288629" cy="450265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784CA76-6FD5-4178-9FF1-8BC9440E562D}"/>
                </a:ext>
              </a:extLst>
            </p:cNvPr>
            <p:cNvCxnSpPr>
              <a:cxnSpLocks/>
            </p:cNvCxnSpPr>
            <p:nvPr/>
          </p:nvCxnSpPr>
          <p:spPr>
            <a:xfrm>
              <a:off x="6900864" y="1674306"/>
              <a:ext cx="4288629" cy="394109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470FB5F-65F5-419A-AA22-26E704BBCF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0866" y="3432367"/>
              <a:ext cx="3628399" cy="274459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2542312-8911-4451-A93D-C689AC18FA97}"/>
                </a:ext>
              </a:extLst>
            </p:cNvPr>
            <p:cNvSpPr/>
            <p:nvPr/>
          </p:nvSpPr>
          <p:spPr>
            <a:xfrm>
              <a:off x="10593146" y="5617889"/>
              <a:ext cx="596347" cy="5168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CC2E381-D6F9-43B3-9B00-F3E4AA99909A}"/>
              </a:ext>
            </a:extLst>
          </p:cNvPr>
          <p:cNvSpPr txBox="1"/>
          <p:nvPr/>
        </p:nvSpPr>
        <p:spPr>
          <a:xfrm>
            <a:off x="4923809" y="5544201"/>
            <a:ext cx="23182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Zero-padding: Set the missing values to be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504DE7-B43A-4A8C-BF1E-E207051B9C46}"/>
              </a:ext>
            </a:extLst>
          </p:cNvPr>
          <p:cNvSpPr txBox="1"/>
          <p:nvPr/>
        </p:nvSpPr>
        <p:spPr>
          <a:xfrm>
            <a:off x="555081" y="6292750"/>
            <a:ext cx="4455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Feature map (nodes) at layer </a:t>
            </a:r>
            <a:r>
              <a:rPr lang="en-US" sz="2400" i="1" dirty="0"/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B40C91-A2AB-456F-83A9-B5CE1B71FC4E}"/>
              </a:ext>
            </a:extLst>
          </p:cNvPr>
          <p:cNvSpPr txBox="1"/>
          <p:nvPr/>
        </p:nvSpPr>
        <p:spPr>
          <a:xfrm>
            <a:off x="7977983" y="6314660"/>
            <a:ext cx="32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Feature map at layer </a:t>
            </a:r>
            <a:r>
              <a:rPr lang="en-US" sz="2400" i="1" dirty="0"/>
              <a:t>t</a:t>
            </a:r>
            <a:r>
              <a:rPr lang="en-US" sz="2400" dirty="0"/>
              <a:t>+1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C6A6A907-3771-4FF1-9474-E10D0ABEA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1760" y="6492875"/>
            <a:ext cx="65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4BE195-460F-4FD6-B5F9-888181737AA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8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772EB-1CAA-19E0-E536-0A707764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E70C5-F76C-B066-F305-304BFF78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DF2EE-18E9-054E-AE9B-D8EB72B71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Recap of Autoencoder</a:t>
            </a:r>
          </a:p>
          <a:p>
            <a:r>
              <a:rPr lang="en-US" dirty="0">
                <a:solidFill>
                  <a:schemeClr val="bg2"/>
                </a:solidFill>
              </a:rPr>
              <a:t>Recap of Convolution </a:t>
            </a:r>
          </a:p>
          <a:p>
            <a:r>
              <a:rPr lang="en-US" dirty="0"/>
              <a:t>Homework description (programming part)</a:t>
            </a:r>
          </a:p>
          <a:p>
            <a:r>
              <a:rPr lang="en-US" dirty="0"/>
              <a:t>Homework description (written part)</a:t>
            </a:r>
          </a:p>
        </p:txBody>
      </p:sp>
    </p:spTree>
    <p:extLst>
      <p:ext uri="{BB962C8B-B14F-4D97-AF65-F5344CB8AC3E}">
        <p14:creationId xmlns:p14="http://schemas.microsoft.com/office/powerpoint/2010/main" val="1367324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7A3D-C5F0-6791-A63D-036DB4B6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3E45-B82D-BD0A-DFBC-94726973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Q1: Generate the Training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F1C7-83CE-A629-CDB1-D910704E7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Q1, you are to implement the following steps</a:t>
            </a:r>
          </a:p>
          <a:p>
            <a:pPr lvl="1"/>
            <a:r>
              <a:rPr lang="en-US" dirty="0"/>
              <a:t> Generate the training data with </a:t>
            </a:r>
            <a:r>
              <a:rPr lang="en-US" b="1" dirty="0">
                <a:solidFill>
                  <a:srgbClr val="FF0000"/>
                </a:solidFill>
              </a:rPr>
              <a:t>THREE SHAPES </a:t>
            </a:r>
            <a:r>
              <a:rPr lang="en-US" dirty="0">
                <a:solidFill>
                  <a:srgbClr val="FF0000"/>
                </a:solidFill>
              </a:rPr>
              <a:t>and </a:t>
            </a:r>
            <a:r>
              <a:rPr lang="en-US" b="1" dirty="0">
                <a:solidFill>
                  <a:srgbClr val="FF0000"/>
                </a:solidFill>
              </a:rPr>
              <a:t>EIGHT COLORS</a:t>
            </a:r>
          </a:p>
          <a:p>
            <a:pPr lvl="1"/>
            <a:r>
              <a:rPr lang="en-US" dirty="0"/>
              <a:t>You will be given the following</a:t>
            </a:r>
          </a:p>
          <a:p>
            <a:pPr lvl="2"/>
            <a:r>
              <a:rPr lang="en-US" dirty="0"/>
              <a:t>s: scale for the shape</a:t>
            </a:r>
          </a:p>
          <a:p>
            <a:pPr lvl="2"/>
            <a:r>
              <a:rPr lang="en-US" dirty="0"/>
              <a:t>cx and cy: the center of the shape</a:t>
            </a:r>
          </a:p>
          <a:p>
            <a:pPr lvl="1"/>
            <a:r>
              <a:rPr lang="en-US" dirty="0"/>
              <a:t>Shapes:</a:t>
            </a:r>
          </a:p>
          <a:p>
            <a:pPr lvl="2"/>
            <a:r>
              <a:rPr lang="en-US" dirty="0"/>
              <a:t>Circle: Draw a circle centered at (cx, cy) with a diameter of s. Use </a:t>
            </a:r>
            <a:r>
              <a:rPr lang="en-US" dirty="0" err="1"/>
              <a:t>d.ellipse</a:t>
            </a:r>
            <a:r>
              <a:rPr lang="en-US" dirty="0"/>
              <a:t>(). </a:t>
            </a:r>
          </a:p>
          <a:p>
            <a:pPr lvl="2"/>
            <a:r>
              <a:rPr lang="en-US" dirty="0"/>
              <a:t>Square: Draw a square centered at (cx, cy), with side length s, and rotated by a random angle. Use </a:t>
            </a:r>
            <a:r>
              <a:rPr lang="en-US" dirty="0" err="1"/>
              <a:t>d.polygon</a:t>
            </a:r>
            <a:r>
              <a:rPr lang="en-US" dirty="0"/>
              <a:t>(). </a:t>
            </a:r>
          </a:p>
          <a:p>
            <a:pPr lvl="2"/>
            <a:r>
              <a:rPr lang="en-US" dirty="0"/>
              <a:t>Triangle:  Draw an equilateral triangle centered at (cx, cy), scaled by s, and rotated by a random angle. Use </a:t>
            </a:r>
            <a:r>
              <a:rPr lang="en-US" dirty="0" err="1"/>
              <a:t>d.polygon</a:t>
            </a:r>
            <a:r>
              <a:rPr lang="en-US" dirty="0"/>
              <a:t>(). </a:t>
            </a:r>
          </a:p>
        </p:txBody>
      </p:sp>
    </p:spTree>
    <p:extLst>
      <p:ext uri="{BB962C8B-B14F-4D97-AF65-F5344CB8AC3E}">
        <p14:creationId xmlns:p14="http://schemas.microsoft.com/office/powerpoint/2010/main" val="281747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4A65-BC94-499E-757B-9B14273D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</a:t>
            </a:r>
            <a:r>
              <a:rPr lang="en-US" dirty="0" err="1"/>
              <a:t>Dataloader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29F495-746E-0EB2-1567-761D5592B148}"/>
              </a:ext>
            </a:extLst>
          </p:cNvPr>
          <p:cNvSpPr/>
          <p:nvPr/>
        </p:nvSpPr>
        <p:spPr>
          <a:xfrm>
            <a:off x="2354704" y="1743889"/>
            <a:ext cx="6784848" cy="356616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5BB033-64EF-B175-F335-6CCFED4C3567}"/>
              </a:ext>
            </a:extLst>
          </p:cNvPr>
          <p:cNvSpPr/>
          <p:nvPr/>
        </p:nvSpPr>
        <p:spPr>
          <a:xfrm>
            <a:off x="2729608" y="1860868"/>
            <a:ext cx="5833872" cy="16843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Dataset:</a:t>
            </a:r>
          </a:p>
          <a:p>
            <a:pPr algn="ctr"/>
            <a:r>
              <a:rPr lang="en-US" sz="3000" dirty="0"/>
              <a:t>Define how to yield one sample</a:t>
            </a:r>
          </a:p>
          <a:p>
            <a:pPr algn="ctr"/>
            <a:endParaRPr lang="en-US" sz="3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BDB3A4C5-FE8F-33AC-B76B-9A911A626ECF}"/>
              </a:ext>
            </a:extLst>
          </p:cNvPr>
          <p:cNvSpPr/>
          <p:nvPr/>
        </p:nvSpPr>
        <p:spPr>
          <a:xfrm>
            <a:off x="3488560" y="3590977"/>
            <a:ext cx="493776" cy="6949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CE1561-DF86-0DFF-9842-28E60B876FE8}"/>
              </a:ext>
            </a:extLst>
          </p:cNvPr>
          <p:cNvSpPr/>
          <p:nvPr/>
        </p:nvSpPr>
        <p:spPr>
          <a:xfrm>
            <a:off x="2839336" y="4359517"/>
            <a:ext cx="3209544" cy="47548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 image, label_1, label_2, …)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49B3B6-8F94-FF89-FB81-9FAA0CC9E01C}"/>
              </a:ext>
            </a:extLst>
          </p:cNvPr>
          <p:cNvSpPr txBox="1"/>
          <p:nvPr/>
        </p:nvSpPr>
        <p:spPr>
          <a:xfrm>
            <a:off x="6377096" y="4104176"/>
            <a:ext cx="22489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Dataloader</a:t>
            </a:r>
            <a:endParaRPr lang="en-US" sz="30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531AE5-9ECE-E048-52ED-9009B49493EC}"/>
              </a:ext>
            </a:extLst>
          </p:cNvPr>
          <p:cNvSpPr/>
          <p:nvPr/>
        </p:nvSpPr>
        <p:spPr>
          <a:xfrm>
            <a:off x="4096327" y="5518912"/>
            <a:ext cx="3100434" cy="47548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 image, label_1, label_2, …)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8D29E8-EB0D-E606-D284-24B45FC07EC8}"/>
              </a:ext>
            </a:extLst>
          </p:cNvPr>
          <p:cNvSpPr/>
          <p:nvPr/>
        </p:nvSpPr>
        <p:spPr>
          <a:xfrm>
            <a:off x="4248727" y="5671312"/>
            <a:ext cx="3100434" cy="47548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 image, label_1, label_2, …)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219426-1212-F11A-4F10-219969120B75}"/>
              </a:ext>
            </a:extLst>
          </p:cNvPr>
          <p:cNvSpPr/>
          <p:nvPr/>
        </p:nvSpPr>
        <p:spPr>
          <a:xfrm>
            <a:off x="4401127" y="5823712"/>
            <a:ext cx="3100434" cy="47548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 image, label_1, label_2, …)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A61D38-1DB3-E5BB-C46F-CC34849FB833}"/>
              </a:ext>
            </a:extLst>
          </p:cNvPr>
          <p:cNvSpPr/>
          <p:nvPr/>
        </p:nvSpPr>
        <p:spPr>
          <a:xfrm>
            <a:off x="4553527" y="5976112"/>
            <a:ext cx="3100434" cy="47548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 image, label_1, label_2, …)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836DFFB-14EA-4628-C9F3-C762358F50A5}"/>
              </a:ext>
            </a:extLst>
          </p:cNvPr>
          <p:cNvSpPr/>
          <p:nvPr/>
        </p:nvSpPr>
        <p:spPr>
          <a:xfrm>
            <a:off x="4705927" y="6128512"/>
            <a:ext cx="3100434" cy="47548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 image, label_1, label_2, …) </a:t>
            </a:r>
          </a:p>
        </p:txBody>
      </p:sp>
      <p:sp>
        <p:nvSpPr>
          <p:cNvPr id="17" name="Bent-Up Arrow 16">
            <a:extLst>
              <a:ext uri="{FF2B5EF4-FFF2-40B4-BE49-F238E27FC236}">
                <a16:creationId xmlns:a16="http://schemas.microsoft.com/office/drawing/2014/main" id="{3F5E3FC7-FB52-266B-A4A9-48C43002FA14}"/>
              </a:ext>
            </a:extLst>
          </p:cNvPr>
          <p:cNvSpPr/>
          <p:nvPr/>
        </p:nvSpPr>
        <p:spPr>
          <a:xfrm rot="5400000">
            <a:off x="2904085" y="5357368"/>
            <a:ext cx="803189" cy="93268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2906A-F7F5-5FEB-7F52-168D6DB86ABD}"/>
              </a:ext>
            </a:extLst>
          </p:cNvPr>
          <p:cNvSpPr txBox="1"/>
          <p:nvPr/>
        </p:nvSpPr>
        <p:spPr>
          <a:xfrm>
            <a:off x="8048368" y="5518912"/>
            <a:ext cx="297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mini-batch of samples with batch size. </a:t>
            </a:r>
          </a:p>
        </p:txBody>
      </p:sp>
    </p:spTree>
    <p:extLst>
      <p:ext uri="{BB962C8B-B14F-4D97-AF65-F5344CB8AC3E}">
        <p14:creationId xmlns:p14="http://schemas.microsoft.com/office/powerpoint/2010/main" val="1249956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2433-4C6C-4DA8-8C7B-B9B95EF1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Create the </a:t>
            </a:r>
            <a:r>
              <a:rPr lang="en-US" dirty="0" err="1"/>
              <a:t>AutoEncoder</a:t>
            </a:r>
            <a:r>
              <a:rPr lang="en-US" dirty="0"/>
              <a:t> and Train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1E790-B003-D72E-EA61-F2F2D5455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9910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ColorShapeDataset</a:t>
            </a:r>
            <a:r>
              <a:rPr lang="en-US" dirty="0"/>
              <a:t> is responsible for loading each image (given an index) and preparing the labels</a:t>
            </a:r>
          </a:p>
          <a:p>
            <a:r>
              <a:rPr lang="en-US" dirty="0"/>
              <a:t>In __</a:t>
            </a:r>
            <a:r>
              <a:rPr lang="en-US" dirty="0" err="1"/>
              <a:t>getitem</a:t>
            </a:r>
            <a:r>
              <a:rPr lang="en-US" dirty="0"/>
              <a:t>__, you need to load one path from </a:t>
            </a:r>
            <a:r>
              <a:rPr lang="en-US" dirty="0" err="1"/>
              <a:t>all_paths</a:t>
            </a:r>
            <a:r>
              <a:rPr lang="en-US" dirty="0"/>
              <a:t> using </a:t>
            </a:r>
            <a:r>
              <a:rPr lang="en-US" dirty="0" err="1"/>
              <a:t>idx</a:t>
            </a:r>
            <a:endParaRPr lang="en-US" dirty="0"/>
          </a:p>
          <a:p>
            <a:r>
              <a:rPr lang="en-US" dirty="0"/>
              <a:t>Load the image with </a:t>
            </a:r>
            <a:r>
              <a:rPr lang="en-US" dirty="0" err="1"/>
              <a:t>PIL.Image</a:t>
            </a:r>
            <a:r>
              <a:rPr lang="en-US" dirty="0"/>
              <a:t>, apply the transform</a:t>
            </a:r>
          </a:p>
          <a:p>
            <a:r>
              <a:rPr lang="en-US" dirty="0"/>
              <a:t>Parse shape &amp; color labels from the filename using </a:t>
            </a:r>
            <a:r>
              <a:rPr lang="en-US" dirty="0" err="1"/>
              <a:t>parse_labels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build_dataloader</a:t>
            </a:r>
            <a:r>
              <a:rPr lang="en-US" b="1" dirty="0"/>
              <a:t> </a:t>
            </a:r>
            <a:r>
              <a:rPr lang="en-US" dirty="0"/>
              <a:t>is responsible for creating an instance of the Dataset and wrapping it inside the </a:t>
            </a:r>
            <a:r>
              <a:rPr lang="en-US" dirty="0" err="1"/>
              <a:t>DataLoader</a:t>
            </a:r>
            <a:r>
              <a:rPr lang="en-US" dirty="0"/>
              <a:t> to yield data batch by batch:</a:t>
            </a:r>
          </a:p>
          <a:p>
            <a:r>
              <a:rPr lang="en-US" dirty="0"/>
              <a:t>Instantiate a </a:t>
            </a:r>
            <a:r>
              <a:rPr lang="en-US" dirty="0" err="1"/>
              <a:t>ColorShapeDataset</a:t>
            </a:r>
            <a:r>
              <a:rPr lang="en-US" dirty="0"/>
              <a:t> with </a:t>
            </a:r>
            <a:r>
              <a:rPr lang="en-US" dirty="0" err="1"/>
              <a:t>build_transform</a:t>
            </a:r>
            <a:r>
              <a:rPr lang="en-US" dirty="0"/>
              <a:t>().</a:t>
            </a:r>
          </a:p>
          <a:p>
            <a:r>
              <a:rPr lang="en-US" dirty="0"/>
              <a:t>Wrap it in a </a:t>
            </a:r>
            <a:r>
              <a:rPr lang="en-US" dirty="0" err="1"/>
              <a:t>DataLoader</a:t>
            </a:r>
            <a:r>
              <a:rPr lang="en-US" dirty="0"/>
              <a:t> with the given </a:t>
            </a:r>
            <a:r>
              <a:rPr lang="en-US" dirty="0" err="1"/>
              <a:t>batch_size</a:t>
            </a:r>
            <a:r>
              <a:rPr lang="en-US" dirty="0"/>
              <a:t>, shuffle, and </a:t>
            </a:r>
            <a:r>
              <a:rPr lang="en-US" dirty="0" err="1"/>
              <a:t>num_workers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49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DDA9F8B-5360-3566-D0C9-76E8A6C417C6}"/>
              </a:ext>
            </a:extLst>
          </p:cNvPr>
          <p:cNvSpPr/>
          <p:nvPr/>
        </p:nvSpPr>
        <p:spPr>
          <a:xfrm>
            <a:off x="172719" y="3709082"/>
            <a:ext cx="6978685" cy="314891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B8B941D-5A50-ECD6-3944-F16482A35E2B}"/>
              </a:ext>
            </a:extLst>
          </p:cNvPr>
          <p:cNvSpPr/>
          <p:nvPr/>
        </p:nvSpPr>
        <p:spPr>
          <a:xfrm>
            <a:off x="172720" y="1048521"/>
            <a:ext cx="6978685" cy="2508422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5ECFD-6BB5-B2AA-776A-10ABBC81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</a:t>
            </a:r>
            <a:r>
              <a:rPr lang="en-US" dirty="0" err="1"/>
              <a:t>AutoEncoder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7C11768-45C3-C55C-44A6-083C7EB40CC4}"/>
              </a:ext>
            </a:extLst>
          </p:cNvPr>
          <p:cNvSpPr/>
          <p:nvPr/>
        </p:nvSpPr>
        <p:spPr>
          <a:xfrm>
            <a:off x="491113" y="1308013"/>
            <a:ext cx="5214551" cy="1371600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FF70FF-7F45-D67C-E8C8-B23D3F829BB2}"/>
              </a:ext>
            </a:extLst>
          </p:cNvPr>
          <p:cNvSpPr/>
          <p:nvPr/>
        </p:nvSpPr>
        <p:spPr>
          <a:xfrm>
            <a:off x="688821" y="1582950"/>
            <a:ext cx="1223318" cy="83717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Conv2d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1ABB25-0137-EE47-5AE9-A7F45B4AB85C}"/>
              </a:ext>
            </a:extLst>
          </p:cNvPr>
          <p:cNvSpPr/>
          <p:nvPr/>
        </p:nvSpPr>
        <p:spPr>
          <a:xfrm>
            <a:off x="2233415" y="1582950"/>
            <a:ext cx="1754659" cy="83717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BatchNorm2d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8A479D-3F9A-157E-97BC-2191CC6AC49C}"/>
              </a:ext>
            </a:extLst>
          </p:cNvPr>
          <p:cNvSpPr/>
          <p:nvPr/>
        </p:nvSpPr>
        <p:spPr>
          <a:xfrm>
            <a:off x="4309350" y="1582950"/>
            <a:ext cx="1223318" cy="83717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ReLU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AA684B-E3E6-DADA-4D11-3CF8E4039280}"/>
              </a:ext>
            </a:extLst>
          </p:cNvPr>
          <p:cNvCxnSpPr>
            <a:endCxn id="6" idx="1"/>
          </p:cNvCxnSpPr>
          <p:nvPr/>
        </p:nvCxnSpPr>
        <p:spPr>
          <a:xfrm>
            <a:off x="1912139" y="2001535"/>
            <a:ext cx="32127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C01DCF-DFB4-654C-7DEB-A41C57A968E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988074" y="2001535"/>
            <a:ext cx="32127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757D9D-AFFD-22F0-2C5C-D83BB26580DC}"/>
              </a:ext>
            </a:extLst>
          </p:cNvPr>
          <p:cNvSpPr txBox="1"/>
          <p:nvPr/>
        </p:nvSpPr>
        <p:spPr>
          <a:xfrm>
            <a:off x="6220392" y="1735349"/>
            <a:ext cx="19976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x6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DBDFF9-2A8F-2CF0-9A50-128EEBAB3E92}"/>
              </a:ext>
            </a:extLst>
          </p:cNvPr>
          <p:cNvSpPr txBox="1"/>
          <p:nvPr/>
        </p:nvSpPr>
        <p:spPr>
          <a:xfrm>
            <a:off x="9694008" y="1878248"/>
            <a:ext cx="15940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Encoder</a:t>
            </a:r>
          </a:p>
        </p:txBody>
      </p:sp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85FE402D-1268-3D72-BA54-F1EBD6B53F5A}"/>
              </a:ext>
            </a:extLst>
          </p:cNvPr>
          <p:cNvSpPr/>
          <p:nvPr/>
        </p:nvSpPr>
        <p:spPr>
          <a:xfrm>
            <a:off x="7151401" y="1913750"/>
            <a:ext cx="1796536" cy="385479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32B1C3F-42C7-1972-22B3-D66FCBCC5B1C}"/>
              </a:ext>
            </a:extLst>
          </p:cNvPr>
          <p:cNvSpPr/>
          <p:nvPr/>
        </p:nvSpPr>
        <p:spPr>
          <a:xfrm>
            <a:off x="427681" y="3829047"/>
            <a:ext cx="5214551" cy="1371600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F7B71F1-8BE0-A7A4-9236-3CB1CB982ED7}"/>
              </a:ext>
            </a:extLst>
          </p:cNvPr>
          <p:cNvSpPr/>
          <p:nvPr/>
        </p:nvSpPr>
        <p:spPr>
          <a:xfrm>
            <a:off x="625389" y="4103984"/>
            <a:ext cx="1223318" cy="83717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ConvTranspose2d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C1A2DD0-BCE4-E55A-C0ED-EAB193E5A36C}"/>
              </a:ext>
            </a:extLst>
          </p:cNvPr>
          <p:cNvSpPr/>
          <p:nvPr/>
        </p:nvSpPr>
        <p:spPr>
          <a:xfrm>
            <a:off x="2169983" y="4103984"/>
            <a:ext cx="1754659" cy="83717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BatchNorm2d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59F9318-5CFD-0A72-07C0-2181799B1B30}"/>
              </a:ext>
            </a:extLst>
          </p:cNvPr>
          <p:cNvSpPr/>
          <p:nvPr/>
        </p:nvSpPr>
        <p:spPr>
          <a:xfrm>
            <a:off x="4245918" y="4103984"/>
            <a:ext cx="1223318" cy="83717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ReLU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FBAACD5-9D5D-18E3-F5DE-C1897B147F24}"/>
              </a:ext>
            </a:extLst>
          </p:cNvPr>
          <p:cNvCxnSpPr>
            <a:endCxn id="38" idx="1"/>
          </p:cNvCxnSpPr>
          <p:nvPr/>
        </p:nvCxnSpPr>
        <p:spPr>
          <a:xfrm>
            <a:off x="1848707" y="4522569"/>
            <a:ext cx="32127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422C2D8-6D6F-F8A0-5B68-3F6004D21A8D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24642" y="4522569"/>
            <a:ext cx="32127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768DD83-63B7-DCB6-79C2-8177313083EF}"/>
              </a:ext>
            </a:extLst>
          </p:cNvPr>
          <p:cNvSpPr txBox="1"/>
          <p:nvPr/>
        </p:nvSpPr>
        <p:spPr>
          <a:xfrm>
            <a:off x="5839940" y="4237848"/>
            <a:ext cx="19976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x5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5CF9350-D066-20AB-408D-6782D75DA941}"/>
              </a:ext>
            </a:extLst>
          </p:cNvPr>
          <p:cNvSpPr/>
          <p:nvPr/>
        </p:nvSpPr>
        <p:spPr>
          <a:xfrm>
            <a:off x="427680" y="5359740"/>
            <a:ext cx="5214551" cy="1371600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E2660D-7D1F-C993-2FEC-AF7A4737D334}"/>
              </a:ext>
            </a:extLst>
          </p:cNvPr>
          <p:cNvSpPr txBox="1"/>
          <p:nvPr/>
        </p:nvSpPr>
        <p:spPr>
          <a:xfrm>
            <a:off x="-580768" y="35958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2E9613A-88C1-9E05-7D16-93802FB1A243}"/>
              </a:ext>
            </a:extLst>
          </p:cNvPr>
          <p:cNvSpPr/>
          <p:nvPr/>
        </p:nvSpPr>
        <p:spPr>
          <a:xfrm>
            <a:off x="625389" y="5634677"/>
            <a:ext cx="1223318" cy="83717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ConvTranspose2d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44A06A-2368-C8CC-B675-054CD449A844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 flipV="1">
            <a:off x="1848707" y="6053262"/>
            <a:ext cx="97611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B84D498-42D0-B0B4-79DA-A371122CD06D}"/>
              </a:ext>
            </a:extLst>
          </p:cNvPr>
          <p:cNvSpPr/>
          <p:nvPr/>
        </p:nvSpPr>
        <p:spPr>
          <a:xfrm>
            <a:off x="2824821" y="5634676"/>
            <a:ext cx="1754659" cy="83717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Sigmoid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C81CAD-D3AD-2DF8-14BC-4F3EE60AB151}"/>
              </a:ext>
            </a:extLst>
          </p:cNvPr>
          <p:cNvSpPr txBox="1"/>
          <p:nvPr/>
        </p:nvSpPr>
        <p:spPr>
          <a:xfrm>
            <a:off x="6031058" y="5768541"/>
            <a:ext cx="19976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x1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6C2BC-FE39-A0C9-9A29-BE4F46FE4EE7}"/>
              </a:ext>
            </a:extLst>
          </p:cNvPr>
          <p:cNvSpPr txBox="1"/>
          <p:nvPr/>
        </p:nvSpPr>
        <p:spPr>
          <a:xfrm>
            <a:off x="9660094" y="5006541"/>
            <a:ext cx="15940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2439268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BCB84-60FC-C5D5-046F-A793D010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K Nearest Neighbor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B82EF5-0325-4C5D-B9A8-4883C280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830273"/>
              </p:ext>
            </p:extLst>
          </p:nvPr>
        </p:nvGraphicFramePr>
        <p:xfrm>
          <a:off x="2217351" y="2560822"/>
          <a:ext cx="812799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2638973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07632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3178473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67402266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52087084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92985892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043446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329450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40325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81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39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6183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BAC90C-A46B-60C9-7528-9E352D93C5B5}"/>
              </a:ext>
            </a:extLst>
          </p:cNvPr>
          <p:cNvSpPr txBox="1"/>
          <p:nvPr/>
        </p:nvSpPr>
        <p:spPr>
          <a:xfrm>
            <a:off x="294640" y="2932416"/>
            <a:ext cx="1422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Num_query_embeddings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78E6E-BB90-1EF8-964A-2F9FA0F40CD2}"/>
              </a:ext>
            </a:extLst>
          </p:cNvPr>
          <p:cNvSpPr txBox="1"/>
          <p:nvPr/>
        </p:nvSpPr>
        <p:spPr>
          <a:xfrm>
            <a:off x="4450629" y="1866536"/>
            <a:ext cx="40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Num_ref_embeddings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C05DC-06E5-5445-8889-B155C59EBED2}"/>
              </a:ext>
            </a:extLst>
          </p:cNvPr>
          <p:cNvSpPr txBox="1"/>
          <p:nvPr/>
        </p:nvSpPr>
        <p:spPr>
          <a:xfrm>
            <a:off x="424523" y="1681870"/>
            <a:ext cx="402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matrix ‘</a:t>
            </a:r>
            <a:r>
              <a:rPr lang="en-US" dirty="0" err="1"/>
              <a:t>dist</a:t>
            </a:r>
            <a:r>
              <a:rPr lang="en-US" dirty="0"/>
              <a:t>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C8F7F-21EB-63A5-B67D-6BE7533B748A}"/>
              </a:ext>
            </a:extLst>
          </p:cNvPr>
          <p:cNvSpPr txBox="1"/>
          <p:nvPr/>
        </p:nvSpPr>
        <p:spPr>
          <a:xfrm>
            <a:off x="204297" y="4362621"/>
            <a:ext cx="117246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query embedding,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will calculate the distance between this query embedding and all the reference embedding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Thus, ‘</a:t>
            </a:r>
            <a:r>
              <a:rPr lang="en-US" dirty="0" err="1"/>
              <a:t>dist</a:t>
            </a:r>
            <a:r>
              <a:rPr lang="en-US" dirty="0"/>
              <a:t>’ has shape </a:t>
            </a:r>
            <a:r>
              <a:rPr lang="en-US" dirty="0" err="1"/>
              <a:t>num_query_embembedings</a:t>
            </a:r>
            <a:r>
              <a:rPr lang="en-US" dirty="0"/>
              <a:t> x </a:t>
            </a:r>
            <a:r>
              <a:rPr lang="en-US" dirty="0" err="1"/>
              <a:t>num_ref_embeddings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K= 3, you will select the closest 3 reference embeddings to plot.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distance, please use </a:t>
            </a:r>
            <a:r>
              <a:rPr lang="en-US" b="1" dirty="0"/>
              <a:t>cosine distance</a:t>
            </a:r>
            <a:r>
              <a:rPr lang="en-US" dirty="0"/>
              <a:t>, that is, pre-normalize each vector to have its L2 norm equal to 1, and compute the L2 distance</a:t>
            </a:r>
          </a:p>
        </p:txBody>
      </p:sp>
    </p:spTree>
    <p:extLst>
      <p:ext uri="{BB962C8B-B14F-4D97-AF65-F5344CB8AC3E}">
        <p14:creationId xmlns:p14="http://schemas.microsoft.com/office/powerpoint/2010/main" val="61358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3E8B-949F-8B31-8F4C-0CC4CE40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 Achieve the best shape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A25D-C0C5-C880-E743-859A85F7A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510917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You </a:t>
            </a:r>
            <a:r>
              <a:rPr lang="en-US" b="1" dirty="0">
                <a:solidFill>
                  <a:srgbClr val="FF0000"/>
                </a:solidFill>
              </a:rPr>
              <a:t>must NOT</a:t>
            </a:r>
            <a:r>
              <a:rPr lang="en-US" dirty="0">
                <a:solidFill>
                  <a:srgbClr val="FF0000"/>
                </a:solidFill>
              </a:rPr>
              <a:t> use any images from the </a:t>
            </a:r>
            <a:r>
              <a:rPr lang="en-US" b="1" dirty="0">
                <a:solidFill>
                  <a:srgbClr val="FF0000"/>
                </a:solidFill>
              </a:rPr>
              <a:t>test set</a:t>
            </a:r>
            <a:r>
              <a:rPr lang="en-US" dirty="0">
                <a:solidFill>
                  <a:srgbClr val="FF0000"/>
                </a:solidFill>
              </a:rPr>
              <a:t> (</a:t>
            </a:r>
            <a:r>
              <a:rPr lang="en-US" dirty="0" err="1">
                <a:solidFill>
                  <a:srgbClr val="FF0000"/>
                </a:solidFill>
              </a:rPr>
              <a:t>data_folder_test</a:t>
            </a:r>
            <a:r>
              <a:rPr lang="en-US" dirty="0">
                <a:solidFill>
                  <a:srgbClr val="FF0000"/>
                </a:solidFill>
              </a:rPr>
              <a:t>) for training.</a:t>
            </a:r>
          </a:p>
          <a:p>
            <a:r>
              <a:rPr lang="en-US" dirty="0">
                <a:solidFill>
                  <a:srgbClr val="FF0000"/>
                </a:solidFill>
              </a:rPr>
              <a:t>You should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do any </a:t>
            </a:r>
            <a:r>
              <a:rPr lang="en-US" b="1" dirty="0">
                <a:solidFill>
                  <a:srgbClr val="FF0000"/>
                </a:solidFill>
              </a:rPr>
              <a:t>supervised</a:t>
            </a:r>
            <a:r>
              <a:rPr lang="en-US" dirty="0">
                <a:solidFill>
                  <a:srgbClr val="FF0000"/>
                </a:solidFill>
              </a:rPr>
              <a:t> training using </a:t>
            </a:r>
            <a:r>
              <a:rPr lang="en-US" b="1" dirty="0">
                <a:solidFill>
                  <a:srgbClr val="FF0000"/>
                </a:solidFill>
              </a:rPr>
              <a:t>labels</a:t>
            </a:r>
            <a:r>
              <a:rPr lang="en-US" dirty="0">
                <a:solidFill>
                  <a:srgbClr val="FF0000"/>
                </a:solidFill>
              </a:rPr>
              <a:t> from the training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Potential directions</a:t>
            </a:r>
          </a:p>
          <a:p>
            <a:r>
              <a:rPr lang="en-US" dirty="0"/>
              <a:t> Modify the autoencoder architecture</a:t>
            </a:r>
          </a:p>
          <a:p>
            <a:pPr lvl="1"/>
            <a:r>
              <a:rPr lang="en-US" dirty="0"/>
              <a:t>Larger model?</a:t>
            </a:r>
          </a:p>
          <a:p>
            <a:pPr lvl="1"/>
            <a:r>
              <a:rPr lang="en-US" dirty="0"/>
              <a:t>Better architecture?</a:t>
            </a:r>
          </a:p>
          <a:p>
            <a:r>
              <a:rPr lang="en-US" dirty="0"/>
              <a:t>Change the training setup</a:t>
            </a:r>
          </a:p>
          <a:p>
            <a:pPr lvl="1"/>
            <a:r>
              <a:rPr lang="en-US" dirty="0"/>
              <a:t>Better loss?</a:t>
            </a:r>
          </a:p>
          <a:p>
            <a:pPr lvl="1"/>
            <a:r>
              <a:rPr lang="en-US" dirty="0"/>
              <a:t>Adjusting hyper-parameters?</a:t>
            </a:r>
          </a:p>
          <a:p>
            <a:r>
              <a:rPr lang="en-US" dirty="0"/>
              <a:t>Change the training set or adding data augmentations:</a:t>
            </a:r>
          </a:p>
          <a:p>
            <a:pPr lvl="1"/>
            <a:r>
              <a:rPr lang="en-US" dirty="0"/>
              <a:t>More data?</a:t>
            </a:r>
          </a:p>
          <a:p>
            <a:pPr lvl="1"/>
            <a:r>
              <a:rPr lang="en-US" dirty="0"/>
              <a:t>Data augmentation?</a:t>
            </a:r>
          </a:p>
        </p:txBody>
      </p:sp>
    </p:spTree>
    <p:extLst>
      <p:ext uri="{BB962C8B-B14F-4D97-AF65-F5344CB8AC3E}">
        <p14:creationId xmlns:p14="http://schemas.microsoft.com/office/powerpoint/2010/main" val="25842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6087</TotalTime>
  <Words>899</Words>
  <Application>Microsoft Office PowerPoint</Application>
  <PresentationFormat>Widescreen</PresentationFormat>
  <Paragraphs>233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Wingdings</vt:lpstr>
      <vt:lpstr>Office Theme</vt:lpstr>
      <vt:lpstr>HW5:  Representation Learning  with Autoencoder</vt:lpstr>
      <vt:lpstr>Notes</vt:lpstr>
      <vt:lpstr>Outline</vt:lpstr>
      <vt:lpstr>Autoencoder</vt:lpstr>
      <vt:lpstr>Autoencoder</vt:lpstr>
      <vt:lpstr>Example</vt:lpstr>
      <vt:lpstr>Convolution</vt:lpstr>
      <vt:lpstr>Convolution</vt:lpstr>
      <vt:lpstr>Convolution</vt:lpstr>
      <vt:lpstr>Outline</vt:lpstr>
      <vt:lpstr>Q1: Generate the Training Dataset</vt:lpstr>
      <vt:lpstr>Dataset and Dataloader</vt:lpstr>
      <vt:lpstr>Q2 Create the AutoEncoder and Train It</vt:lpstr>
      <vt:lpstr>Q2 AutoEncoder</vt:lpstr>
      <vt:lpstr>Q3 K Nearest Neighbor</vt:lpstr>
      <vt:lpstr>Q4 Achieve the best shape accuracy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Chao, Wei-Lun</dc:creator>
  <cp:lastModifiedBy>Chao, Wei-Lun</cp:lastModifiedBy>
  <cp:revision>358</cp:revision>
  <dcterms:created xsi:type="dcterms:W3CDTF">2020-06-25T19:45:53Z</dcterms:created>
  <dcterms:modified xsi:type="dcterms:W3CDTF">2025-11-19T05:50:04Z</dcterms:modified>
</cp:coreProperties>
</file>